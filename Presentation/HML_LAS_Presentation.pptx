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5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132320" y="73152"/>
            <a:ext cx="1938528" cy="4997196"/>
          </a:xfrm>
          <a:prstGeom prst="rect">
            <a:avLst/>
          </a:prstGeom>
          <a:solidFill>
            <a:srgbClr val="222D42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132320" y="73152"/>
            <a:ext cx="45720" cy="4997196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274320"/>
            <a:ext cx="6583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65A28"/>
                </a:solidFill>
                <a:latin typeface="Trebuchet MS"/>
              </a:rPr>
              <a:t>HML-LAS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3C281E"/>
                </a:solidFill>
                <a:latin typeface="Trebuchet MS"/>
              </a:rPr>
              <a:t>Hybrid ML-Guided Load-Aware
Adaptive CPU Scheduler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651760"/>
            <a:ext cx="3200400" cy="4572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" y="278892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C281E"/>
                </a:solidFill>
                <a:latin typeface="Trebuchet MS"/>
              </a:rPr>
              <a:t>xv6 RISC-V Kernel Implementation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461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C281E"/>
                </a:solidFill>
                <a:latin typeface="Trebuchet MS"/>
              </a:rPr>
              <a:t>Dev Agarwal  ·  Kavya Pratap Singh Chauhan
Keshav Goyal  ·  Antra Agarwal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3886200"/>
            <a:ext cx="6583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C281E"/>
                </a:solidFill>
                <a:latin typeface="Trebuchet MS"/>
              </a:rPr>
              <a:t>CSD 204 — Operating Systems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365760"/>
            <a:ext cx="14630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06640" y="365760"/>
            <a:ext cx="14630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24927" y="457200"/>
            <a:ext cx="1426464" cy="54864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C281E"/>
                </a:solidFill>
                <a:latin typeface="Trebuchet MS"/>
              </a:rPr>
              <a:t>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4927" y="1024128"/>
            <a:ext cx="1426464" cy="2560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C281E"/>
                </a:solidFill>
                <a:latin typeface="Trebuchet MS"/>
              </a:rPr>
              <a:t>Processes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1481328"/>
            <a:ext cx="14630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06640" y="1481328"/>
            <a:ext cx="146304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24927" y="1572768"/>
            <a:ext cx="1426464" cy="54864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C281E"/>
                </a:solidFill>
                <a:latin typeface="Trebuchet M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4927" y="2139696"/>
            <a:ext cx="1426464" cy="2560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C281E"/>
                </a:solidFill>
                <a:latin typeface="Trebuchet MS"/>
              </a:rPr>
              <a:t>Files Modified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2596896"/>
            <a:ext cx="14630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06640" y="2596896"/>
            <a:ext cx="14630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24927" y="2688336"/>
            <a:ext cx="1426464" cy="54864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C281E"/>
                </a:solidFill>
                <a:latin typeface="Trebuchet M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3255263"/>
            <a:ext cx="1426464" cy="2560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C281E"/>
                </a:solidFill>
                <a:latin typeface="Trebuchet MS"/>
              </a:rPr>
              <a:t>Layers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712464"/>
            <a:ext cx="1463040" cy="96012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06640" y="3712464"/>
            <a:ext cx="146304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24927" y="3803904"/>
            <a:ext cx="1426464" cy="548640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C281E"/>
                </a:solidFill>
                <a:latin typeface="Trebuchet MS"/>
              </a:rPr>
              <a:t>28.4%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4370832"/>
            <a:ext cx="1426464" cy="256032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C281E"/>
                </a:solidFill>
                <a:latin typeface="Trebuchet MS"/>
              </a:rPr>
              <a:t>vs Round Robin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C281E"/>
                </a:solidFill>
                <a:latin typeface="Trebuchet MS"/>
              </a:rPr>
              <a:t>Presentation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822960"/>
            <a:ext cx="4206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56032" y="822960"/>
            <a:ext cx="4206240" cy="640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56032" y="886968"/>
            <a:ext cx="457200" cy="11704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120700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5A28"/>
                </a:solidFill>
                <a:latin typeface="Trebuchet M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9875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A28"/>
                </a:solidFill>
                <a:latin typeface="Trebuchet MS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38988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Why existing schedulers fail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82312" y="822960"/>
            <a:ext cx="4206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82312" y="822960"/>
            <a:ext cx="42062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82312" y="886968"/>
            <a:ext cx="457200" cy="11704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18888" y="120700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5A28"/>
                </a:solidFill>
                <a:latin typeface="Trebuchet M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2" y="9875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A28"/>
                </a:solidFill>
                <a:latin typeface="Trebuchet MS"/>
              </a:rPr>
              <a:t>Literature Survey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138988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3 key papers — 311, 83, 61 citations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194560"/>
            <a:ext cx="4206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56032" y="2194560"/>
            <a:ext cx="4206240" cy="64008"/>
          </a:xfrm>
          <a:prstGeom prst="rect">
            <a:avLst/>
          </a:prstGeom>
          <a:solidFill>
            <a:srgbClr val="A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6032" y="2258568"/>
            <a:ext cx="457200" cy="11704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" y="257860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5A28"/>
                </a:solidFill>
                <a:latin typeface="Trebuchet M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23591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281E"/>
                </a:solidFill>
                <a:latin typeface="Trebuchet MS"/>
              </a:rPr>
              <a:t>Proposed 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276148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5A28"/>
                </a:solidFill>
                <a:latin typeface="Trebuchet MS"/>
              </a:rPr>
              <a:t>HML-LAS 3-layer adaptive algorithm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82312" y="2194560"/>
            <a:ext cx="4206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782312" y="2194560"/>
            <a:ext cx="4206240" cy="6400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82312" y="2258568"/>
            <a:ext cx="457200" cy="11704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18888" y="257860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5A28"/>
                </a:solidFill>
                <a:latin typeface="Trebuchet M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2" y="23591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A28"/>
                </a:solidFill>
                <a:latin typeface="Trebuchet MS"/>
              </a:rPr>
              <a:t>Implementation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2761488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xv6 kernel — 2 files, 7 new fields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3566160"/>
            <a:ext cx="4206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56032" y="3566160"/>
            <a:ext cx="4206240" cy="64008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56032" y="3630168"/>
            <a:ext cx="457200" cy="11704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2608" y="395020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5A28"/>
                </a:solidFill>
                <a:latin typeface="Trebuchet MS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37307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A28"/>
                </a:solidFill>
                <a:latin typeface="Trebuchet MS"/>
              </a:rPr>
              <a:t>Results &amp; 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4133087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1000-process simulation, 4 algorithms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782312" y="3566160"/>
            <a:ext cx="4206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782312" y="3566160"/>
            <a:ext cx="4206240" cy="64008"/>
          </a:xfrm>
          <a:prstGeom prst="rect">
            <a:avLst/>
          </a:prstGeom>
          <a:solidFill>
            <a:srgbClr val="8A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782312" y="3630168"/>
            <a:ext cx="457200" cy="11704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18888" y="3950208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5A28"/>
                </a:solidFill>
                <a:latin typeface="Trebuchet MS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30952" y="3730752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A28"/>
                </a:solidFill>
                <a:latin typeface="Trebuchet MS"/>
              </a:rPr>
              <a:t>Conclusion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0952" y="4133087"/>
            <a:ext cx="3520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Key takeaways and 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E65A28"/>
                </a:solidFill>
                <a:latin typeface="Trebuchet M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65A28"/>
                </a:solidFill>
                <a:latin typeface="Trebuchet MS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457200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5A28"/>
                </a:solidFill>
                <a:latin typeface="Trebuchet MS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C281E"/>
                </a:solidFill>
                <a:latin typeface="Trebuchet MS"/>
              </a:rPr>
              <a:t>Why do traditional CPU schedulers fall short?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A28"/>
                </a:solidFill>
                <a:latin typeface="Trebuchet MS"/>
              </a:rPr>
              <a:t>Problems with Existing Schedulers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12064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Every classical algorithm has a fundamental flaw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" y="804672"/>
            <a:ext cx="2084831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01168" y="804672"/>
            <a:ext cx="2084831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93268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C281E"/>
                </a:solidFill>
                <a:latin typeface="Trebuchet MS"/>
              </a:rPr>
              <a:t>No Adaptability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" y="1335024"/>
            <a:ext cx="1901952" cy="2560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Round Robin (RR)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1682495"/>
            <a:ext cx="1901952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Gives equal CPU time to every process regardless of whether it is a short I/O-bound job or a long CPU-bound computation. Wastes time and degrades performance for heterogeneous workloads.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32304" y="804672"/>
            <a:ext cx="2084831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432304" y="804672"/>
            <a:ext cx="2084831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23744" y="93268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C281E"/>
                </a:solidFill>
                <a:latin typeface="Trebuchet MS"/>
              </a:rPr>
              <a:t>No Prediction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23744" y="1335024"/>
            <a:ext cx="1901952" cy="2560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60320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Shortest Job First (SJF)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1682495"/>
            <a:ext cx="1901952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Theoretically optimal but requires knowing burst time in advance — impossible in a real system. Without prediction, we cannot leverage short-job priority in practice.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804672"/>
            <a:ext cx="2084831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63440" y="804672"/>
            <a:ext cx="2084831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79" y="93268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C281E"/>
                </a:solidFill>
                <a:latin typeface="Trebuchet MS"/>
              </a:rPr>
              <a:t>Starvation 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1335024"/>
            <a:ext cx="1901952" cy="2560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91455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Priority Scheduling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1682495"/>
            <a:ext cx="1901952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Low-priority processes can be indefinitely delayed if high-priority processes keep arriving. Without an aging or boost mechanism, fairness cannot be guaranteed.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94576" y="804672"/>
            <a:ext cx="2084831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94576" y="804672"/>
            <a:ext cx="2084831" cy="54864"/>
          </a:xfrm>
          <a:prstGeom prst="rect">
            <a:avLst/>
          </a:prstGeom>
          <a:solidFill>
            <a:srgbClr val="A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86016" y="932688"/>
            <a:ext cx="1901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C281E"/>
                </a:solidFill>
                <a:latin typeface="Trebuchet MS"/>
              </a:rPr>
              <a:t>No Load Awareness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86016" y="1335024"/>
            <a:ext cx="1901952" cy="256032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022592" y="1371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All Traditional Algorithms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1682495"/>
            <a:ext cx="1901952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None of the classical algorithms adapt based on how many processes are currently waiting. High-load and low-load scenarios are treated completely identically.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E65A28"/>
                </a:solidFill>
                <a:latin typeface="Trebuchet M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65A28"/>
                </a:solidFill>
                <a:latin typeface="Trebuchet MS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457200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5A28"/>
                </a:solidFill>
                <a:latin typeface="Trebuchet MS"/>
              </a:rPr>
              <a:t>Literature Survey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C281E"/>
                </a:solidFill>
                <a:latin typeface="Trebuchet MS"/>
              </a:rPr>
              <a:t>What existing research taught us — and how we went further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A28"/>
                </a:solidFill>
                <a:latin typeface="Trebuchet MS"/>
              </a:rPr>
              <a:t>Literature Survey — Key Papers Reviewed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22960"/>
            <a:ext cx="86868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8686800" cy="5486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877824"/>
            <a:ext cx="54864" cy="1225296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93268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[1] Lu et al. — Feedback Control EDF Scheduling (2000)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914400"/>
            <a:ext cx="1508760" cy="256032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932688"/>
            <a:ext cx="1435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C281E"/>
                </a:solidFill>
                <a:latin typeface="Trebuchet MS"/>
              </a:rPr>
              <a:t>311 citations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28016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Applies PID control theory to CPU scheduling. FC-EDF continuously monitors deadline miss ratio and dynamically adjusts CPU load — treating scheduling as a closed-loop control system.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243584"/>
            <a:ext cx="1920240" cy="74980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95160" y="128016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C281E"/>
                </a:solidFill>
                <a:latin typeface="Trebuchet MS"/>
              </a:rPr>
              <a:t>Takeaway: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46304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Inspired HML-LAS feedback &amp; adaptive mechanisms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12848"/>
            <a:ext cx="86868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2212848"/>
            <a:ext cx="8686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8600" y="2267712"/>
            <a:ext cx="54864" cy="12252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" y="23225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[2] Nemirovsky et al. — ML-Based Heterogeneous CPU Scheduling (2017)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2304288"/>
            <a:ext cx="1508760" cy="2560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51775" y="2322576"/>
            <a:ext cx="1435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C281E"/>
                </a:solidFill>
                <a:latin typeface="Trebuchet MS"/>
              </a:rPr>
              <a:t>83 citations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2670048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Uses Artificial Neural Networks to predict thread performance per quantum and map to optimal cores. Achieves 25–31% throughput improvement over round-robin on SPEC2006/SPLASH-2 benchmarks.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633472"/>
            <a:ext cx="1920240" cy="74980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60" y="267004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C281E"/>
                </a:solidFill>
                <a:latin typeface="Trebuchet MS"/>
              </a:rPr>
              <a:t>Takeaway: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852928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Validates predictive scheduling — shaped our burst prediction formula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3602736"/>
            <a:ext cx="868680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28600" y="3602736"/>
            <a:ext cx="868680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28600" y="3657600"/>
            <a:ext cx="54864" cy="122529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4048" y="3712463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[3] Dash et al. — Dynamic Average Burst Round Robin (2015)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3694176"/>
            <a:ext cx="1508760" cy="256032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51775" y="3712463"/>
            <a:ext cx="14356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3C281E"/>
                </a:solidFill>
                <a:latin typeface="Trebuchet MS"/>
              </a:rPr>
              <a:t>61 citations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4059935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Replaces fixed RR time quantum with a dynamically calculated quantum based on avg burst of active processes. Reduces avg. waiting time by 41% and turnaround by 31%.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03720" y="4023360"/>
            <a:ext cx="1920240" cy="74980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995160" y="4059935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C281E"/>
                </a:solidFill>
                <a:latin typeface="Trebuchet MS"/>
              </a:rPr>
              <a:t>Takeaway: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24281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Direct baseline — HML-LAS extends beyond simple quantum adjustment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E65A28"/>
                </a:solidFill>
                <a:latin typeface="Trebuchet M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65A28"/>
                </a:solidFill>
                <a:latin typeface="Trebuchet MS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457200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C281E"/>
                </a:solidFill>
                <a:latin typeface="Trebuchet MS"/>
              </a:rPr>
              <a:t>Proposed Methodology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65A28"/>
                </a:solidFill>
                <a:latin typeface="Trebuchet MS"/>
              </a:rPr>
              <a:t>HML-LAS — a three-layer adaptive scheduling framework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A28"/>
                </a:solidFill>
                <a:latin typeface="Trebuchet MS"/>
              </a:rPr>
              <a:t>HML-LAS Algorithm — Three-Layer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22960"/>
            <a:ext cx="86868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822960"/>
            <a:ext cx="54864" cy="1207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822960"/>
            <a:ext cx="566928" cy="120700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6888" y="1207008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C281E"/>
                </a:solidFill>
                <a:latin typeface="Trebuchet MS"/>
              </a:rPr>
              <a:t>Layer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896112"/>
            <a:ext cx="7909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281E"/>
                </a:solidFill>
                <a:latin typeface="Trebuchet MS"/>
              </a:rPr>
              <a:t>Burst Prediction 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261872"/>
            <a:ext cx="7909560" cy="274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1298448"/>
            <a:ext cx="7680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3C281E"/>
                </a:solidFill>
                <a:latin typeface="Trebuchet MS"/>
              </a:rPr>
              <a:t>predicted = (α × </a:t>
            </a:r>
            <a:r>
              <a:rPr sz="950" b="1" i="0" dirty="0" err="1">
                <a:solidFill>
                  <a:srgbClr val="3C281E"/>
                </a:solidFill>
                <a:latin typeface="Trebuchet MS"/>
              </a:rPr>
              <a:t>last_burst</a:t>
            </a:r>
            <a:r>
              <a:rPr sz="950" b="1" i="0" dirty="0">
                <a:solidFill>
                  <a:srgbClr val="3C281E"/>
                </a:solidFill>
                <a:latin typeface="Trebuchet MS"/>
              </a:rPr>
              <a:t> + (10−α) × </a:t>
            </a:r>
            <a:r>
              <a:rPr sz="950" b="1" i="0" dirty="0" err="1">
                <a:solidFill>
                  <a:srgbClr val="3C281E"/>
                </a:solidFill>
                <a:latin typeface="Trebuchet MS"/>
              </a:rPr>
              <a:t>old_predicted</a:t>
            </a:r>
            <a:r>
              <a:rPr sz="950" b="1" i="0" dirty="0">
                <a:solidFill>
                  <a:srgbClr val="3C281E"/>
                </a:solidFill>
                <a:latin typeface="Trebuchet MS"/>
              </a:rPr>
              <a:t>)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609344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EWMA over process history. History is strongest predictor of future CPU behavior — no prior knowledge required.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2121408"/>
            <a:ext cx="86868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2121408"/>
            <a:ext cx="54864" cy="120700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28600" y="2121408"/>
            <a:ext cx="566928" cy="120700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46888" y="2505456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C281E"/>
                </a:solidFill>
                <a:latin typeface="Trebuchet MS"/>
              </a:rPr>
              <a:t>Layer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2194560"/>
            <a:ext cx="7909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281E"/>
                </a:solidFill>
                <a:latin typeface="Trebuchet MS"/>
              </a:rPr>
              <a:t>EWMA Adaptive Weighting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" y="2560320"/>
            <a:ext cx="7909560" cy="274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87552" y="2596896"/>
            <a:ext cx="7680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C281E"/>
                </a:solidFill>
                <a:latin typeface="Trebuchet MS"/>
              </a:rPr>
              <a:t>α = 7 (load ≤ 5)   |   α = 5 (load ≤ 10)   |   α = 3 (load &gt; 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907791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Under high load, α decreases — trusts accumulated history. Under low load, α increases for quick reaction to new behavior.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419856"/>
            <a:ext cx="868680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" y="3419856"/>
            <a:ext cx="54864" cy="1207008"/>
          </a:xfrm>
          <a:prstGeom prst="rect">
            <a:avLst/>
          </a:prstGeom>
          <a:solidFill>
            <a:srgbClr val="A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8600" y="3419856"/>
            <a:ext cx="566928" cy="120700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46888" y="3803904"/>
            <a:ext cx="5120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C281E"/>
                </a:solidFill>
                <a:latin typeface="Trebuchet MS"/>
              </a:rPr>
              <a:t>Layer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93008"/>
            <a:ext cx="7909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C281E"/>
                </a:solidFill>
                <a:latin typeface="Trebuchet MS"/>
              </a:rPr>
              <a:t>Process Classification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3858768"/>
            <a:ext cx="7909560" cy="2743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87552" y="3895344"/>
            <a:ext cx="76809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3C281E"/>
                </a:solidFill>
                <a:latin typeface="Trebuchet MS"/>
              </a:rPr>
              <a:t>I/O-bound (</a:t>
            </a:r>
            <a:r>
              <a:rPr sz="950" b="1" i="0" dirty="0" err="1">
                <a:solidFill>
                  <a:srgbClr val="3C281E"/>
                </a:solidFill>
                <a:latin typeface="Trebuchet MS"/>
              </a:rPr>
              <a:t>io_count</a:t>
            </a:r>
            <a:r>
              <a:rPr sz="950" b="1" i="0" dirty="0">
                <a:solidFill>
                  <a:srgbClr val="3C281E"/>
                </a:solidFill>
                <a:latin typeface="Trebuchet MS"/>
              </a:rPr>
              <a:t> &gt; cpu_count+2): predicted −= 2  |  CPU-bound: predicted +=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20624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Auto-classifies each process. I/O-bound processes get priority boost for faster interactive response.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754880"/>
            <a:ext cx="8686800" cy="2926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7472" y="4773168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>
                <a:solidFill>
                  <a:srgbClr val="3C281E"/>
                </a:solidFill>
                <a:latin typeface="Trebuchet MS"/>
              </a:rPr>
              <a:t>⏱  Aging: </a:t>
            </a:r>
            <a:r>
              <a:rPr sz="950" b="1" i="0" dirty="0" err="1">
                <a:solidFill>
                  <a:srgbClr val="3C281E"/>
                </a:solidFill>
                <a:latin typeface="Trebuchet MS"/>
              </a:rPr>
              <a:t>waiting_time</a:t>
            </a:r>
            <a:r>
              <a:rPr sz="950" b="1" i="0" dirty="0">
                <a:solidFill>
                  <a:srgbClr val="3C281E"/>
                </a:solidFill>
                <a:latin typeface="Trebuchet MS"/>
              </a:rPr>
              <a:t> &gt; 20 ticks → predicted burst halved → guaranteed scheduling — starvation-free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A28"/>
                </a:solidFill>
                <a:latin typeface="Trebuchet MS"/>
              </a:rPr>
              <a:t>HML-LAS Pseudocode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12064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Complete scheduler logic — runs on every timer interrupt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8686800" cy="42245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804672"/>
            <a:ext cx="54864" cy="42245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896112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Initialize: last_burst=5, waiting_time=0, predicted_burst=5, alpha=5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075334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       io_count=0, cpu_count=0, proc_class=0  for all processes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1254556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433779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C281E"/>
                </a:solidFill>
                <a:latin typeface="Trebuchet MS"/>
              </a:rPr>
              <a:t>scheduler():  loop forever: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13001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load = count of RUNNABLE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1792224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for each RUNNABLE process p:   p.waiting_time++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1971446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2150668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for each RUNNABLE process p: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329891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alpha = (load&gt;10) ? 3 : (load&gt;5) ? 5 : 7          // EWMA weight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509113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predicted = (alpha*p.last_burst + (10-alpha)*p.predicted_burst)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688336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if p.predicted_burst &lt;= 3:  p.io_count++           // 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2867558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else:                       p.cpu_count++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046780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if p.io_count &gt; p.cpu_count+2:  predicted -= 2     // I/O boost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226003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elif p.cpu_count &gt; p.io_count+2: predicted +=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05225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if predicted &lt; 1: predicted =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584448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if p.waiting_time &gt; 20: predicted /= 2             // 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763670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C281E"/>
                </a:solidFill>
                <a:latin typeface="Trebuchet MS"/>
              </a:rPr>
              <a:t>    select process with min predicted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3942892"/>
            <a:ext cx="8321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C281E"/>
                </a:solidFill>
                <a:latin typeface="Trebuchet MS"/>
              </a:rPr>
              <a:t>  run selected;  selected.waiting_time=0;  selected.last_burst=1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E65A28"/>
                </a:solidFill>
                <a:latin typeface="Trebuchet M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65A28"/>
                </a:solidFill>
                <a:latin typeface="Trebuchet MS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457200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5A28"/>
                </a:solidFill>
                <a:latin typeface="Trebuchet MS"/>
              </a:rPr>
              <a:t>Implementation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C281E"/>
                </a:solidFill>
                <a:latin typeface="Trebuchet MS"/>
              </a:rPr>
              <a:t>Inside the real xv6 RISC-V kernel — not a simulation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A28"/>
                </a:solidFill>
                <a:latin typeface="Trebuchet MS"/>
              </a:rPr>
              <a:t>Implementation — xv6 Kernel Modifications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12064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kernel/proc.h  +  kernel/proc.c — only 2 files changed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32461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804672"/>
            <a:ext cx="32461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89611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 dirty="0">
                <a:solidFill>
                  <a:srgbClr val="3C281E"/>
                </a:solidFill>
                <a:latin typeface="Trebuchet MS"/>
              </a:rPr>
              <a:t>System 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61872"/>
            <a:ext cx="3154680" cy="47548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7472" y="1353312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281E"/>
                </a:solidFill>
                <a:latin typeface="Trebuchet MS"/>
              </a:rPr>
              <a:t>Host 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353312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C281E"/>
                </a:solidFill>
                <a:latin typeface="Trebuchet MS"/>
              </a:rPr>
              <a:t>Ubuntu 22.04 (WSL2)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792224"/>
            <a:ext cx="3154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" y="1883664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281E"/>
                </a:solidFill>
                <a:latin typeface="Trebuchet MS"/>
              </a:rPr>
              <a:t>Emulator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883664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C281E"/>
                </a:solidFill>
                <a:latin typeface="Trebuchet MS"/>
              </a:rPr>
              <a:t>QEMU v6.2 RISC-V 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322576"/>
            <a:ext cx="3154680" cy="47548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7472" y="2414016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281E"/>
                </a:solidFill>
                <a:latin typeface="Trebuchet MS"/>
              </a:rPr>
              <a:t>Target 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414016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C281E"/>
                </a:solidFill>
                <a:latin typeface="Trebuchet MS"/>
              </a:rPr>
              <a:t>xv6-riscv (MIT)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852927"/>
            <a:ext cx="3154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2944368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281E"/>
                </a:solidFill>
                <a:latin typeface="Trebuchet MS"/>
              </a:rPr>
              <a:t>Compiler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944368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C281E"/>
                </a:solidFill>
                <a:latin typeface="Trebuchet MS"/>
              </a:rPr>
              <a:t>riscv64-linux-gnu-gcc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83279"/>
            <a:ext cx="3154680" cy="47548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7472" y="3474720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281E"/>
                </a:solidFill>
                <a:latin typeface="Trebuchet MS"/>
              </a:rPr>
              <a:t>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474720"/>
            <a:ext cx="19385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C281E"/>
                </a:solidFill>
                <a:latin typeface="Trebuchet MS"/>
              </a:rPr>
              <a:t>RISC-V 64-bit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804672"/>
            <a:ext cx="27889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0" y="804672"/>
            <a:ext cx="278892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67328" y="896112"/>
            <a:ext cx="2606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C281E"/>
                </a:solidFill>
                <a:latin typeface="Trebuchet MS"/>
              </a:rPr>
              <a:t>New Fields — struct proc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03320" y="1261872"/>
            <a:ext cx="2697480" cy="420624"/>
          </a:xfrm>
          <a:prstGeom prst="rect">
            <a:avLst/>
          </a:prstGeom>
          <a:solidFill>
            <a:srgbClr val="F2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67328" y="130759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C281E"/>
                </a:solidFill>
                <a:latin typeface="Trebuchet MS"/>
              </a:rPr>
              <a:t>last_burst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7328" y="1490472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C281E"/>
                </a:solidFill>
                <a:latin typeface="Trebuchet MS"/>
              </a:rPr>
              <a:t>Actual CPU time last tick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703320" y="1737360"/>
            <a:ext cx="26974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767328" y="178308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C281E"/>
                </a:solidFill>
                <a:latin typeface="Trebuchet MS"/>
              </a:rPr>
              <a:t>waiting_time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67328" y="1965960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C281E"/>
                </a:solidFill>
                <a:latin typeface="Trebuchet MS"/>
              </a:rPr>
              <a:t>Ticks spent waiting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03320" y="2212848"/>
            <a:ext cx="2697480" cy="420624"/>
          </a:xfrm>
          <a:prstGeom prst="rect">
            <a:avLst/>
          </a:prstGeom>
          <a:solidFill>
            <a:srgbClr val="F2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67328" y="225856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C281E"/>
                </a:solidFill>
                <a:latin typeface="Trebuchet MS"/>
              </a:rPr>
              <a:t>predicted_burst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67328" y="2441448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C281E"/>
                </a:solidFill>
                <a:latin typeface="Trebuchet MS"/>
              </a:rPr>
              <a:t>EWMA prediction output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03320" y="2688336"/>
            <a:ext cx="26974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767328" y="273405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C281E"/>
                </a:solidFill>
                <a:latin typeface="Trebuchet MS"/>
              </a:rPr>
              <a:t>alpha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67328" y="2916936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C281E"/>
                </a:solidFill>
                <a:latin typeface="Trebuchet MS"/>
              </a:rPr>
              <a:t>Adaptive EWMA weight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03320" y="3163824"/>
            <a:ext cx="2697480" cy="420624"/>
          </a:xfrm>
          <a:prstGeom prst="rect">
            <a:avLst/>
          </a:prstGeom>
          <a:solidFill>
            <a:srgbClr val="F2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67328" y="3209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C281E"/>
                </a:solidFill>
                <a:latin typeface="Trebuchet MS"/>
              </a:rPr>
              <a:t>io_count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67328" y="3392424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C281E"/>
                </a:solidFill>
                <a:latin typeface="Trebuchet MS"/>
              </a:rPr>
              <a:t>I/O-bound event counter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703320" y="3639312"/>
            <a:ext cx="269748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67328" y="36850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C281E"/>
                </a:solidFill>
                <a:latin typeface="Trebuchet MS"/>
              </a:rPr>
              <a:t>cpu_count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67328" y="3867912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C281E"/>
                </a:solidFill>
                <a:latin typeface="Trebuchet MS"/>
              </a:rPr>
              <a:t>CPU-bound event counter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03320" y="4114800"/>
            <a:ext cx="2697480" cy="420624"/>
          </a:xfrm>
          <a:prstGeom prst="rect">
            <a:avLst/>
          </a:prstGeom>
          <a:solidFill>
            <a:srgbClr val="F2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3767328" y="4160520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C281E"/>
                </a:solidFill>
                <a:latin typeface="Trebuchet MS"/>
              </a:rPr>
              <a:t>proc_class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67328" y="4343400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3C281E"/>
                </a:solidFill>
                <a:latin typeface="Trebuchet MS"/>
              </a:rPr>
              <a:t>Classification result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36544" y="804672"/>
            <a:ext cx="2286000" cy="420624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629400" y="804672"/>
            <a:ext cx="2286000" cy="54864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20840" y="896112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Live Kernel Output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93408" y="1261872"/>
            <a:ext cx="2148840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xv6 kernel is booting</a:t>
            </a: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hart 1 starting</a:t>
            </a: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HML-LAS: </a:t>
            </a:r>
            <a:r>
              <a:rPr lang="en-US" sz="900" b="1" dirty="0" err="1">
                <a:solidFill>
                  <a:srgbClr val="3C281E"/>
                </a:solidFill>
                <a:latin typeface="Trebuchet MS"/>
              </a:rPr>
              <a:t>pid</a:t>
            </a:r>
            <a:r>
              <a:rPr lang="en-US" sz="900" b="1" dirty="0">
                <a:solidFill>
                  <a:srgbClr val="3C281E"/>
                </a:solidFill>
                <a:latin typeface="Trebuchet MS"/>
              </a:rPr>
              <a:t>=1</a:t>
            </a: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predicted=3 wait=2</a:t>
            </a: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load=1 turnaround=1</a:t>
            </a: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HML-LAS: </a:t>
            </a:r>
            <a:r>
              <a:rPr lang="en-US" sz="900" b="1" dirty="0" err="1">
                <a:solidFill>
                  <a:srgbClr val="3C281E"/>
                </a:solidFill>
                <a:latin typeface="Trebuchet MS"/>
              </a:rPr>
              <a:t>pid</a:t>
            </a:r>
            <a:r>
              <a:rPr lang="en-US" sz="900" b="1" dirty="0">
                <a:solidFill>
                  <a:srgbClr val="3C281E"/>
                </a:solidFill>
                <a:latin typeface="Trebuchet MS"/>
              </a:rPr>
              <a:t>=2</a:t>
            </a: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predicted=1 wait=0</a:t>
            </a: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load=0 turnaround=1</a:t>
            </a: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 err="1">
                <a:solidFill>
                  <a:srgbClr val="3C281E"/>
                </a:solidFill>
                <a:latin typeface="Trebuchet MS"/>
              </a:rPr>
              <a:t>init</a:t>
            </a:r>
            <a:r>
              <a:rPr lang="en-US" sz="900" b="1" dirty="0">
                <a:solidFill>
                  <a:srgbClr val="3C281E"/>
                </a:solidFill>
                <a:latin typeface="Trebuchet MS"/>
              </a:rPr>
              <a:t>: starting </a:t>
            </a:r>
            <a:r>
              <a:rPr lang="en-US" sz="900" b="1" dirty="0" err="1">
                <a:solidFill>
                  <a:srgbClr val="3C281E"/>
                </a:solidFill>
                <a:latin typeface="Trebuchet MS"/>
              </a:rPr>
              <a:t>sh</a:t>
            </a:r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MASSTEST: Done</a:t>
            </a: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Completed 1000/1000</a:t>
            </a:r>
          </a:p>
          <a:p>
            <a:endParaRPr lang="en-US" sz="900" b="1" dirty="0">
              <a:solidFill>
                <a:srgbClr val="3C281E"/>
              </a:solidFill>
              <a:latin typeface="Trebuchet MS"/>
            </a:endParaRPr>
          </a:p>
          <a:p>
            <a:r>
              <a:rPr lang="en-US" sz="900" b="1" dirty="0">
                <a:solidFill>
                  <a:srgbClr val="3C281E"/>
                </a:solidFill>
                <a:latin typeface="Trebuchet MS"/>
              </a:rPr>
              <a:t>$ _</a:t>
            </a:r>
            <a:endParaRPr sz="900" b="1" i="0" dirty="0">
              <a:solidFill>
                <a:srgbClr val="3C281E"/>
              </a:solidFill>
              <a:latin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C281E"/>
                </a:solidFill>
                <a:latin typeface="Trebuchet MS"/>
              </a:rPr>
              <a:t>1000-Process Simulation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12064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Real xv6 kernel data — not a Python simulation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53035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804672"/>
            <a:ext cx="5303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89611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C281E"/>
                </a:solidFill>
                <a:latin typeface="Trebuchet MS"/>
              </a:rPr>
              <a:t>masstest.c — Batch Spawning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261872"/>
            <a:ext cx="5212080" cy="35661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4048" y="13350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#define BATCH_SIZE  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51424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#define TOTAL     1000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69346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1872691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while(completed &lt; TOTAL){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205191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for(i=0;i&lt;BATCH;i++){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23113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if(fork()==0){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241035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  // CPU work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258958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  for(j=0;j&lt;100000;j++)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76880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    x++;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2948025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  exit(0);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" y="31272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330647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8569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for(i=0;i&lt;BATCH;i++)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" y="3664915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wait(0);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3844137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completed += BATCH;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" y="402336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printf("Done %d/1000",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20258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         completed);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" y="438180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C281E"/>
                </a:solidFill>
                <a:latin typeface="Trebuchet MS"/>
              </a:rPr>
              <a:t>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15000" y="804672"/>
            <a:ext cx="3200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15000" y="804672"/>
            <a:ext cx="320040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0" y="89611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3C281E"/>
                </a:solidFill>
                <a:latin typeface="Trebuchet MS"/>
              </a:rPr>
              <a:t>Data Collection Pipeline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760720" y="1243584"/>
            <a:ext cx="640080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769864" y="1298448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Step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129844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281E"/>
                </a:solidFill>
                <a:latin typeface="Trebuchet MS"/>
              </a:rPr>
              <a:t>make qemu 2&gt;&amp;1 | tee ~/xv6_output.log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163677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Runs xv6 + saves all output to log file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1993392"/>
            <a:ext cx="640080" cy="32918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69864" y="2048256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Step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55664" y="20482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281E"/>
                </a:solidFill>
                <a:latin typeface="Trebuchet MS"/>
              </a:rPr>
              <a:t>Execute masstest inside xv6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238658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50 processes × 20 batches = 1000 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2743200"/>
            <a:ext cx="640080" cy="329184"/>
          </a:xfrm>
          <a:prstGeom prst="rect">
            <a:avLst/>
          </a:prstGeom>
          <a:solidFill>
            <a:srgbClr val="A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769864" y="2798064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Step 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55664" y="2798064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65A28"/>
                </a:solidFill>
                <a:latin typeface="Trebuchet MS"/>
              </a:rPr>
              <a:t>HML-LAS prints every decision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313639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pid, predicted, wait, load, turnaround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3493008"/>
            <a:ext cx="640080" cy="329184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769864" y="3547872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Step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55664" y="354787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281E"/>
                </a:solidFill>
                <a:latin typeface="Trebuchet MS"/>
              </a:rPr>
              <a:t>Parse log with Python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06440" y="3886199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1213 scheduling events captured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760720" y="4242816"/>
            <a:ext cx="640080" cy="329184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769864" y="4297679"/>
            <a:ext cx="6217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Result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55664" y="4297679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C281E"/>
                </a:solidFill>
                <a:latin typeface="Trebuchet MS"/>
              </a:rPr>
              <a:t>Real kernel data — 1003 unique PIDs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4636007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Avg wait: 13.43  ·  Avg TA: 2.48 ticks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0" y="274320"/>
            <a:ext cx="2926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0" b="1">
                <a:solidFill>
                  <a:srgbClr val="E65A28"/>
                </a:solidFill>
                <a:latin typeface="Trebuchet M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E65A28"/>
                </a:solidFill>
                <a:latin typeface="Trebuchet MS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55648"/>
            <a:ext cx="457200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65A28"/>
                </a:solidFill>
                <a:latin typeface="Trebuchet MS"/>
              </a:rPr>
              <a:t>Results &amp;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3C281E"/>
                </a:solidFill>
                <a:latin typeface="Trebuchet MS"/>
              </a:rPr>
              <a:t>1000 processes · 4 schedulers · real xv6 kernel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A28"/>
                </a:solidFill>
                <a:latin typeface="Trebuchet MS"/>
              </a:rPr>
              <a:t>HML-LAS — Detailed Simulation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12064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Real kernel output · 1213 scheduling events captured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28346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804672"/>
            <a:ext cx="28346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600" y="868680"/>
            <a:ext cx="64008" cy="1234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94183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C281E"/>
                </a:solidFill>
                <a:latin typeface="Trebuchet MS"/>
              </a:rPr>
              <a:t>1213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7335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C281E"/>
                </a:solidFill>
                <a:latin typeface="Trebuchet MS"/>
              </a:rPr>
              <a:t>Scheduling Events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804672"/>
            <a:ext cx="28346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804672"/>
            <a:ext cx="2834640" cy="64008"/>
          </a:xfrm>
          <a:prstGeom prst="rect">
            <a:avLst/>
          </a:prstGeom>
          <a:solidFill>
            <a:srgbClr val="A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00400" y="868680"/>
            <a:ext cx="64008" cy="1234440"/>
          </a:xfrm>
          <a:prstGeom prst="rect">
            <a:avLst/>
          </a:prstGeom>
          <a:solidFill>
            <a:srgbClr val="A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83280" y="94183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C281E"/>
                </a:solidFill>
                <a:latin typeface="Trebuchet MS"/>
              </a:rPr>
              <a:t>13.43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67335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C281E"/>
                </a:solidFill>
                <a:latin typeface="Trebuchet MS"/>
              </a:rPr>
              <a:t>Avg Wait (ticks)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804672"/>
            <a:ext cx="28346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72200" y="804672"/>
            <a:ext cx="2834640" cy="64008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868680"/>
            <a:ext cx="64008" cy="1234440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94183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C281E"/>
                </a:solidFill>
                <a:latin typeface="Trebuchet MS"/>
              </a:rPr>
              <a:t>2.48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673352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C281E"/>
                </a:solidFill>
                <a:latin typeface="Trebuchet MS"/>
              </a:rPr>
              <a:t>Avg Turnaround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2194560"/>
            <a:ext cx="28346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" y="2194560"/>
            <a:ext cx="2834640" cy="6400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28600" y="2258568"/>
            <a:ext cx="64008" cy="123444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23317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C281E"/>
                </a:solidFill>
                <a:latin typeface="Trebuchet MS"/>
              </a:rPr>
              <a:t>13.28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063239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C281E"/>
                </a:solidFill>
                <a:latin typeface="Trebuchet MS"/>
              </a:rPr>
              <a:t>Avg System Load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2194560"/>
            <a:ext cx="28346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0" y="2194560"/>
            <a:ext cx="2834640" cy="640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200400" y="2258568"/>
            <a:ext cx="64008" cy="123444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83280" y="23317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C281E"/>
                </a:solidFill>
                <a:latin typeface="Trebuchet MS"/>
              </a:rPr>
              <a:t>66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063239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C281E"/>
                </a:solidFill>
                <a:latin typeface="Trebuchet MS"/>
              </a:rPr>
              <a:t>Max Wait (ticks)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194560"/>
            <a:ext cx="2834640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172200" y="2194560"/>
            <a:ext cx="2834640" cy="64008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172200" y="2258568"/>
            <a:ext cx="64008" cy="1234440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5080" y="233172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3C281E"/>
                </a:solidFill>
                <a:latin typeface="Trebuchet MS"/>
              </a:rPr>
              <a:t>1003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3063239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C281E"/>
                </a:solidFill>
                <a:latin typeface="Trebuchet MS"/>
              </a:rPr>
              <a:t>Unique PIDs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4316" y="3639312"/>
            <a:ext cx="8686800" cy="51206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28600" y="3639312"/>
            <a:ext cx="54864" cy="5120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3694176"/>
            <a:ext cx="8412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Key: Turnaround concentrated near zero — most processes complete almost immediately. Max wait=66 confirms aging fired correctly. Avg load=13.28 provides realistic high-contention test.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C281E"/>
                </a:solidFill>
                <a:latin typeface="Trebuchet MS"/>
              </a:rPr>
              <a:t>Comparative Performance — All 4 Schedulers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12064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Same 1000-process workload · identical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2514600" cy="3840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804672"/>
            <a:ext cx="25146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" y="841248"/>
            <a:ext cx="23865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C281E"/>
                </a:solidFill>
                <a:latin typeface="Trebuchet MS"/>
              </a:rPr>
              <a:t>Algorithm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804672"/>
            <a:ext cx="1965960" cy="3840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88920" y="804672"/>
            <a:ext cx="19659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52927" y="841248"/>
            <a:ext cx="18379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C281E"/>
                </a:solidFill>
                <a:latin typeface="Trebuchet MS"/>
              </a:rPr>
              <a:t>Avg Wait (ticks)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00600" y="804672"/>
            <a:ext cx="1965960" cy="3840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800600" y="804672"/>
            <a:ext cx="19659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841248"/>
            <a:ext cx="18379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C281E"/>
                </a:solidFill>
                <a:latin typeface="Trebuchet MS"/>
              </a:rPr>
              <a:t>Avg Turnaround (ticks)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804672"/>
            <a:ext cx="2148840" cy="3840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12280" y="804672"/>
            <a:ext cx="214884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76288" y="841248"/>
            <a:ext cx="202082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3C281E"/>
                </a:solidFill>
                <a:latin typeface="Trebuchet MS"/>
              </a:rPr>
              <a:t>Throughput (%)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225296"/>
            <a:ext cx="2514600" cy="502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01752" y="1316736"/>
            <a:ext cx="2368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Round Robin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88920" y="1225296"/>
            <a:ext cx="1965960" cy="502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862072" y="1316736"/>
            <a:ext cx="1819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3002.83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1225296"/>
            <a:ext cx="1965960" cy="502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73752" y="1316736"/>
            <a:ext cx="1819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5192.04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12280" y="1225296"/>
            <a:ext cx="2148840" cy="502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85432" y="1316736"/>
            <a:ext cx="2002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15.74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1773936"/>
            <a:ext cx="2514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01752" y="1865376"/>
            <a:ext cx="2368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Dynamic RR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1773936"/>
            <a:ext cx="1965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62072" y="1865376"/>
            <a:ext cx="1819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2269.49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1773936"/>
            <a:ext cx="19659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73752" y="1865376"/>
            <a:ext cx="1819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4925.70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12280" y="1773936"/>
            <a:ext cx="2148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85432" y="1865376"/>
            <a:ext cx="2002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15.74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2322576"/>
            <a:ext cx="2514600" cy="502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01752" y="2414016"/>
            <a:ext cx="2368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MLFQ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88920" y="2322576"/>
            <a:ext cx="1965960" cy="502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862072" y="2414016"/>
            <a:ext cx="1819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4290.52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2322576"/>
            <a:ext cx="1965960" cy="502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73752" y="2414016"/>
            <a:ext cx="1819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5455.87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12280" y="2322576"/>
            <a:ext cx="2148840" cy="50292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885432" y="2414016"/>
            <a:ext cx="2002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C281E"/>
                </a:solidFill>
                <a:latin typeface="Trebuchet MS"/>
              </a:rPr>
              <a:t>15.74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2871215"/>
            <a:ext cx="2514600" cy="502920"/>
          </a:xfrm>
          <a:prstGeom prst="rect">
            <a:avLst/>
          </a:prstGeom>
          <a:solidFill>
            <a:srgbClr val="E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28600" y="2871215"/>
            <a:ext cx="54864" cy="502920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01752" y="2962656"/>
            <a:ext cx="23682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65A28"/>
                </a:solidFill>
                <a:latin typeface="Trebuchet MS"/>
              </a:rPr>
              <a:t>HML-LAS (Ours)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88920" y="2871215"/>
            <a:ext cx="1965960" cy="502920"/>
          </a:xfrm>
          <a:prstGeom prst="rect">
            <a:avLst/>
          </a:prstGeom>
          <a:solidFill>
            <a:srgbClr val="E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862072" y="2962656"/>
            <a:ext cx="1819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81E"/>
                </a:solidFill>
                <a:latin typeface="Trebuchet MS"/>
              </a:rPr>
              <a:t>3715.57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00600" y="2871215"/>
            <a:ext cx="1965960" cy="502920"/>
          </a:xfrm>
          <a:prstGeom prst="rect">
            <a:avLst/>
          </a:prstGeom>
          <a:solidFill>
            <a:srgbClr val="E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73752" y="2962656"/>
            <a:ext cx="18196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81E"/>
                </a:solidFill>
                <a:latin typeface="Trebuchet MS"/>
              </a:rPr>
              <a:t>3721.92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12280" y="2871215"/>
            <a:ext cx="2148840" cy="502920"/>
          </a:xfrm>
          <a:prstGeom prst="rect">
            <a:avLst/>
          </a:prstGeom>
          <a:solidFill>
            <a:srgbClr val="E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85432" y="2962656"/>
            <a:ext cx="2002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81E"/>
                </a:solidFill>
                <a:latin typeface="Trebuchet MS"/>
              </a:rPr>
              <a:t>15.74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28600" y="3493008"/>
            <a:ext cx="4206240" cy="914400"/>
          </a:xfrm>
          <a:prstGeom prst="rect">
            <a:avLst/>
          </a:prstGeom>
          <a:solidFill>
            <a:srgbClr val="FF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228600" y="3493008"/>
            <a:ext cx="54864" cy="9144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35478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vs Round Robin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3822191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✔  Turnaround: 3721.92 vs 5192.04  →  28.4% better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40965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✔  Waiting:    3715.57 vs 3002.83  →  competitive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663440" y="3493008"/>
            <a:ext cx="4251960" cy="914400"/>
          </a:xfrm>
          <a:prstGeom prst="rect">
            <a:avLst/>
          </a:prstGeom>
          <a:solidFill>
            <a:srgbClr val="E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4663440" y="3493008"/>
            <a:ext cx="54864" cy="914400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00600" y="354787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vs MLFQ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0" y="3822191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★  Turnaround: 3721.92 vs 5455.87  →  31.8% better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800600" y="4096512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★  Best overall turnaround of all 4 schedulers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C281E"/>
                </a:solidFill>
                <a:latin typeface="Trebuchet MS"/>
              </a:rPr>
              <a:t>Performance Comparison — Visual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12064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Lower is better for Avg Wait and Avg Turnaround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4160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" y="859536"/>
            <a:ext cx="4014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C281E"/>
                </a:solidFill>
                <a:latin typeface="Trebuchet MS"/>
              </a:rPr>
              <a:t>Avg Waiting Time (ticks)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51383" y="2277220"/>
            <a:ext cx="602361" cy="1554115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5663" y="2039476"/>
            <a:ext cx="693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3002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663" y="3867911"/>
            <a:ext cx="693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C281E"/>
                </a:solidFill>
                <a:latin typeface="Trebuchet MS"/>
              </a:rPr>
              <a:t>RR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76527" y="2656760"/>
            <a:ext cx="602361" cy="117457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30807" y="2419016"/>
            <a:ext cx="693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2269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0807" y="3867911"/>
            <a:ext cx="693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C281E"/>
                </a:solidFill>
                <a:latin typeface="Trebuchet MS"/>
              </a:rPr>
              <a:t>Dyn 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01671" y="1610775"/>
            <a:ext cx="602361" cy="222056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55951" y="1373031"/>
            <a:ext cx="693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4290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55951" y="3867911"/>
            <a:ext cx="693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C281E"/>
                </a:solidFill>
                <a:latin typeface="Trebuchet MS"/>
              </a:rPr>
              <a:t>MLFQ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26815" y="1908341"/>
            <a:ext cx="602361" cy="1922994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81095" y="1670597"/>
            <a:ext cx="693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3715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1095" y="3867911"/>
            <a:ext cx="693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65A28"/>
                </a:solidFill>
                <a:latin typeface="Trebuchet MS"/>
              </a:rPr>
              <a:t>HML-LAS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804672"/>
            <a:ext cx="4160520" cy="3246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28032" y="859536"/>
            <a:ext cx="401421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C281E"/>
                </a:solidFill>
                <a:latin typeface="Trebuchet MS"/>
              </a:rPr>
              <a:t>Avg Turnaround Time (ticks)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7663" y="1664285"/>
            <a:ext cx="602361" cy="216705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31943" y="1426541"/>
            <a:ext cx="693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5192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31943" y="3867911"/>
            <a:ext cx="693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C281E"/>
                </a:solidFill>
                <a:latin typeface="Trebuchet MS"/>
              </a:rPr>
              <a:t>RR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02807" y="1775450"/>
            <a:ext cx="602361" cy="2055885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57087" y="1537706"/>
            <a:ext cx="693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4925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7087" y="3867911"/>
            <a:ext cx="693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C281E"/>
                </a:solidFill>
                <a:latin typeface="Trebuchet MS"/>
              </a:rPr>
              <a:t>Dyn RR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27951" y="1554168"/>
            <a:ext cx="602361" cy="2277167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82231" y="1316424"/>
            <a:ext cx="693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5455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82231" y="3867911"/>
            <a:ext cx="693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3C281E"/>
                </a:solidFill>
                <a:latin typeface="Trebuchet MS"/>
              </a:rPr>
              <a:t>MLFQ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53095" y="2277883"/>
            <a:ext cx="602361" cy="1553452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07375" y="2040139"/>
            <a:ext cx="693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3C281E"/>
                </a:solidFill>
                <a:latin typeface="Trebuchet MS"/>
              </a:rPr>
              <a:t>3721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07375" y="3867911"/>
            <a:ext cx="693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65A28"/>
                </a:solidFill>
                <a:latin typeface="Trebuchet MS"/>
              </a:rPr>
              <a:t>HML-LAS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4206240"/>
            <a:ext cx="2103120" cy="2926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74320" y="4224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C281E"/>
                </a:solidFill>
                <a:latin typeface="Trebuchet MS"/>
              </a:rPr>
              <a:t>Round Robin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59736" y="4206240"/>
            <a:ext cx="2103120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505456" y="4224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C281E"/>
                </a:solidFill>
                <a:latin typeface="Trebuchet MS"/>
              </a:rPr>
              <a:t>Dynamic RR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90872" y="4206240"/>
            <a:ext cx="2103120" cy="29260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736592" y="4224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3C281E"/>
                </a:solidFill>
                <a:latin typeface="Trebuchet MS"/>
              </a:rPr>
              <a:t>MLFQ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22008" y="4206240"/>
            <a:ext cx="2103120" cy="292608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967728" y="422452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65A28"/>
                </a:solidFill>
                <a:latin typeface="Trebuchet MS"/>
              </a:rPr>
              <a:t>HML-LAS (Ours)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4572000"/>
            <a:ext cx="8686800" cy="31089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28600" y="4572000"/>
            <a:ext cx="54864" cy="310896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65760" y="4617720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65A28"/>
                </a:solidFill>
                <a:latin typeface="Trebuchet MS"/>
              </a:rPr>
              <a:t>HML-LAS achieves the lowest turnaround time — 28.4% better than RR, 31.8% better than MLFQ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65A28"/>
                </a:solidFill>
                <a:latin typeface="Trebuchet MS"/>
              </a:rPr>
              <a:t>HML-LAS — Waiting Time Trend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12064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Self-balancing prediction-driven scheduling in 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416052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804672"/>
            <a:ext cx="4160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89611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81E"/>
                </a:solidFill>
                <a:latin typeface="Trebuchet MS"/>
              </a:rPr>
              <a:t>Predicted Burst vs Actual Wait Time</a:t>
            </a:r>
          </a:p>
        </p:txBody>
      </p:sp>
      <p:sp>
        <p:nvSpPr>
          <p:cNvPr id="10" name="Oval 9"/>
          <p:cNvSpPr/>
          <p:nvPr/>
        </p:nvSpPr>
        <p:spPr>
          <a:xfrm>
            <a:off x="1425140" y="3540359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927357" y="2970689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767181" y="381248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95017" y="3503473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38912" y="455371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42367" y="3929109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37063" y="394064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192547" y="3357463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78636" y="3536283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25103" y="2465528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046211" y="3567125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403693" y="3103258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838851" y="3925670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368819" y="355028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126245" y="3122661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46511" y="2909681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45558" y="4215439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2670" y="455371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490497" y="3404501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038055" y="3351371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940335" y="393245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106562" y="2442831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656107" y="3646938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381982" y="2842850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840031" y="356159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523510" y="354997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717769" y="3432411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405526" y="321850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046650" y="238224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111145" y="303572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712451" y="298644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786492" y="3880720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301863" y="455371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518124" y="209090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70802" y="455371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283640" y="416112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002229" y="308669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904476" y="3051605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978561" y="2997018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28932" y="4541569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068992" y="4093915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528709" y="2187741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827105" y="3214238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561742" y="297823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122140" y="304077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82596" y="3640765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262524" y="3562939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566199" y="345127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682988" y="3435159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637904" y="4035533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275900" y="3705439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268826" y="444725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306507" y="289772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666618" y="3863160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052235" y="3885795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741016" y="304983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742388" y="3661188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438912" y="412439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713746" y="290405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714138" y="319645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908211" y="391028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39143" y="3289195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72435" y="3441118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311174" y="4387878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566430" y="288361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438912" y="455371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432252" y="417883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868648" y="3489721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261189" y="326261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232933" y="455371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35620" y="253383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126994" y="251916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220329" y="455371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017257" y="3495209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077518" y="3526925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514149" y="351085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1711631" y="3491219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422661" y="3047443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734828" y="376402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875037" y="3868721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003906" y="245702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1695447" y="405029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958990" y="4249846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080706" y="4553712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785611" y="3750254"/>
            <a:ext cx="56692" cy="56692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320040" y="4809744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C281E"/>
                </a:solidFill>
                <a:latin typeface="Trebuchet MS"/>
              </a:rPr>
              <a:t>Predicted Burst →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572000" y="804672"/>
            <a:ext cx="4343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572000" y="804672"/>
            <a:ext cx="4343400" cy="54864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681728" y="896112"/>
            <a:ext cx="4069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Key Observations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617720" y="1243584"/>
            <a:ext cx="4206240" cy="9144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4617720" y="1243584"/>
            <a:ext cx="54864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754880" y="1316736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Positive Correlation Confirmed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54880" y="1645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Higher predicted burst → higher actual wait. Formula correctly ranks process urgency across all 1213 events.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617720" y="2231136"/>
            <a:ext cx="4206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4617720" y="2231136"/>
            <a:ext cx="54864" cy="91440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754880" y="23042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Self-Balancing Rotation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754880" y="2633472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After each run, last_burst resets to 1 — score drops, yielding to waiting processes. Smarter than plain Round Robin.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617720" y="3218688"/>
            <a:ext cx="4206240" cy="914400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4617720" y="3218688"/>
            <a:ext cx="54864" cy="914400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4754880" y="32918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Aging Fires Correctly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754880" y="362102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Max wait = 66 ticks observed. Aging halved predicted burst at 20-tick threshold — process guaranteed next slot.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617720" y="4206240"/>
            <a:ext cx="420624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4617720" y="4206240"/>
            <a:ext cx="54864" cy="914400"/>
          </a:xfrm>
          <a:prstGeom prst="rect">
            <a:avLst/>
          </a:prstGeom>
          <a:solidFill>
            <a:srgbClr val="A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4754880" y="4279392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Load-Adaptive α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54880" y="460857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Avg load = 13.28 processes. Under high contention, α=3 — scheduler trusts accumulated history over single-tick bursts.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C281E"/>
                </a:solidFill>
                <a:latin typeface="Trebuchet MS"/>
              </a:rPr>
              <a:t>Starvation Prevention — Aging Mechanism Verified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804672"/>
            <a:ext cx="8686800" cy="38404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804672"/>
            <a:ext cx="54864" cy="38404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92608" y="822960"/>
            <a:ext cx="11978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C281E"/>
                </a:solidFill>
                <a:latin typeface="Trebuchet MS"/>
              </a:rPr>
              <a:t>Condition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822960"/>
            <a:ext cx="170078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C281E"/>
                </a:solidFill>
                <a:latin typeface="Trebuchet MS"/>
              </a:rPr>
              <a:t>P3 wait_time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7" y="822960"/>
            <a:ext cx="18836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C281E"/>
                </a:solidFill>
                <a:latin typeface="Trebuchet MS"/>
              </a:rPr>
              <a:t>Normal Predicted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6128" y="822960"/>
            <a:ext cx="160934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C281E"/>
                </a:solidFill>
                <a:latin typeface="Trebuchet MS"/>
              </a:rPr>
              <a:t>After Aging (÷2)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79208" y="822960"/>
            <a:ext cx="14264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C281E"/>
                </a:solidFill>
                <a:latin typeface="Trebuchet MS"/>
              </a:rPr>
              <a:t>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1225296"/>
            <a:ext cx="8686800" cy="475488"/>
          </a:xfrm>
          <a:prstGeom prst="rect">
            <a:avLst/>
          </a:prstGeom>
          <a:solidFill>
            <a:srgbClr val="EA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28600" y="1225296"/>
            <a:ext cx="54864" cy="475488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" y="1280160"/>
            <a:ext cx="1197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81E"/>
                </a:solidFill>
                <a:latin typeface="Trebuchet MS"/>
              </a:rPr>
              <a:t>P3 Starving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1280160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81E"/>
                </a:solidFill>
                <a:latin typeface="Trebuchet MS"/>
              </a:rPr>
              <a:t>21 ticks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7" y="1280160"/>
            <a:ext cx="18836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81E"/>
                </a:solidFill>
                <a:latin typeface="Trebuchet MS"/>
              </a:rPr>
              <a:t>(5×1+3×21+2×2)/10 = 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8" y="1280160"/>
            <a:ext cx="160934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81E"/>
                </a:solidFill>
                <a:latin typeface="Trebuchet MS"/>
              </a:rPr>
              <a:t>11 ÷ 2 =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280160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3C281E"/>
                </a:solidFill>
                <a:latin typeface="Trebuchet MS"/>
              </a:rPr>
              <a:t>Wins!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187451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281E"/>
                </a:solidFill>
                <a:latin typeface="Trebuchet MS"/>
              </a:rPr>
              <a:t>Scheduling Timeline — Aging in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377440"/>
            <a:ext cx="8686800" cy="54864"/>
          </a:xfrm>
          <a:prstGeom prst="rect">
            <a:avLst/>
          </a:prstGeom>
          <a:solidFill>
            <a:srgbClr val="8A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4320" y="2231136"/>
            <a:ext cx="109728" cy="2926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" y="25603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C281E"/>
                </a:solidFill>
                <a:latin typeface="Trebuchet MS"/>
              </a:rPr>
              <a:t>P1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" y="28346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C281E"/>
                </a:solidFill>
                <a:latin typeface="Trebuchet MS"/>
              </a:rPr>
              <a:t>tick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91640" y="2231136"/>
            <a:ext cx="10972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27048" y="25603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C281E"/>
                </a:solidFill>
                <a:latin typeface="Trebuchet MS"/>
              </a:rPr>
              <a:t>P2 runs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7048" y="28346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C281E"/>
                </a:solidFill>
                <a:latin typeface="Trebuchet MS"/>
              </a:rPr>
              <a:t>tick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108960" y="2231136"/>
            <a:ext cx="109728" cy="2926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944368" y="25603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C281E"/>
                </a:solidFill>
                <a:latin typeface="Trebuchet MS"/>
              </a:rPr>
              <a:t>P1 runs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44368" y="28346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C281E"/>
                </a:solidFill>
                <a:latin typeface="Trebuchet MS"/>
              </a:rPr>
              <a:t>tick 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6280" y="2231136"/>
            <a:ext cx="10972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61688" y="25603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C281E"/>
                </a:solidFill>
                <a:latin typeface="Trebuchet MS"/>
              </a:rPr>
              <a:t>P2 runs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28346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C281E"/>
                </a:solidFill>
                <a:latin typeface="Trebuchet MS"/>
              </a:rPr>
              <a:t>tick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2231136"/>
            <a:ext cx="109728" cy="292608"/>
          </a:xfrm>
          <a:prstGeom prst="rect">
            <a:avLst/>
          </a:prstGeom>
          <a:solidFill>
            <a:srgbClr val="8A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79008" y="2560320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C281E"/>
                </a:solidFill>
                <a:latin typeface="Trebuchet MS"/>
              </a:rPr>
              <a:t>P3 waits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79008" y="2834640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3C281E"/>
                </a:solidFill>
                <a:latin typeface="Trebuchet MS"/>
              </a:rPr>
              <a:t>tick 4–20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176272"/>
            <a:ext cx="1554480" cy="38404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60920" y="21945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C281E"/>
                </a:solidFill>
                <a:latin typeface="Trebuchet MS"/>
              </a:rPr>
              <a:t>Aging fires!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2724912"/>
            <a:ext cx="1554480" cy="384048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360920" y="2743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C281E"/>
                </a:solidFill>
                <a:latin typeface="Trebuchet MS"/>
              </a:rPr>
              <a:t>P3 wins 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" y="3246120"/>
            <a:ext cx="868680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28600" y="3246120"/>
            <a:ext cx="54864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84048" y="331012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281E"/>
                </a:solidFill>
                <a:latin typeface="Trebuchet MS"/>
              </a:rPr>
              <a:t>Mathematical Guarantee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" y="3675887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• Normal formula: predicted = (5×last_burst + 3×waiting_time + 2×load) / 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3895344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• P3 after 21 ticks: (5×1 + 3×21 + 2×2) / 10  =  72/10  =  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4114800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• After aging (÷2):  7 ÷ 2  =  3  —  lower than any recently-run process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" y="4334255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• Any process with waiting_time &gt; 20 ALWAYS beats a process with last_burst=1, waiting=0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84048" y="4553712"/>
            <a:ext cx="8321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• This provides a mathematical guarantee that no process waits indefinitely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583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92608" y="9144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C281E"/>
                </a:solidFill>
                <a:latin typeface="Trebuchet MS"/>
              </a:rPr>
              <a:t>The ML Component — Answering the Key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" y="512064"/>
            <a:ext cx="8412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3C281E"/>
                </a:solidFill>
                <a:latin typeface="Trebuchet MS"/>
              </a:rPr>
              <a:t>Where exactly is the machine learning?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768096"/>
            <a:ext cx="8686800" cy="402336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28600" y="768096"/>
            <a:ext cx="54864" cy="402336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795528"/>
            <a:ext cx="841248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b="1" i="1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Machine Learning Component in HML-LAS</a:t>
            </a:r>
            <a:endParaRPr sz="1250" b="1" i="1" dirty="0">
              <a:solidFill>
                <a:schemeClr val="accent5">
                  <a:lumMod val="50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1298448"/>
            <a:ext cx="8686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28600" y="1298448"/>
            <a:ext cx="54864" cy="111556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4048" y="13716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281E"/>
                </a:solidFill>
                <a:latin typeface="Trebuchet MS"/>
              </a:rPr>
              <a:t>EWMA — Online Learning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1700784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Exponential Weighted Moving Average is a classic online/incremental learning technique used in Linux CFS and TCP RTT estimation. It continuously updates predictions without storing history — the model learns from each new observation. This IS machine learning.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0" y="1664207"/>
            <a:ext cx="1920240" cy="65836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49440" y="1700784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α is the learning rate: High α = react fast. Low α = trust accumulated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505456"/>
            <a:ext cx="8686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600" y="2505456"/>
            <a:ext cx="54864" cy="1115568"/>
          </a:xfrm>
          <a:prstGeom prst="rect">
            <a:avLst/>
          </a:prstGeom>
          <a:solidFill>
            <a:srgbClr val="A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" y="25786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281E"/>
                </a:solidFill>
                <a:latin typeface="Trebuchet MS"/>
              </a:rPr>
              <a:t>Per-Process Continuous Training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" y="2907792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Yes — every process has its own prediction model (predicted_burst field). Every time a process runs, the model updates: new_pred = f(last_burst, old_pred, alpha). Training happens on every scheduling event — fully online, zero batch training needed.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0" y="2871216"/>
            <a:ext cx="1920240" cy="65836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49440" y="2907792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1213 training events captured across 1003 unique processes in our simulation.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3712464"/>
            <a:ext cx="8686800" cy="11155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28600" y="3712464"/>
            <a:ext cx="54864" cy="111556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84048" y="378561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C281E"/>
                </a:solidFill>
                <a:latin typeface="Trebuchet MS"/>
              </a:rPr>
              <a:t>Adaptive α — The Real ML Innovation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114800"/>
            <a:ext cx="6309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C281E"/>
                </a:solidFill>
                <a:latin typeface="Trebuchet MS"/>
              </a:rPr>
              <a:t>α (the learning rate) is NOT fixed — it adapts to system load. Under high load (α=3), model is conservative. Under low load (α=7), it adapts quickly. This is analogous to adaptive learning rate in gradient descent. This distinguishes HML-LAS from a simple weighted average.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0" y="4078224"/>
            <a:ext cx="1920240" cy="658368"/>
          </a:xfrm>
          <a:prstGeom prst="rect">
            <a:avLst/>
          </a:prstGeom>
          <a:solidFill>
            <a:srgbClr val="E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49440" y="411480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C281E"/>
                </a:solidFill>
                <a:latin typeface="Trebuchet MS"/>
              </a:rPr>
              <a:t>The weighting itself is learned — making this a genuine adaptive ML system.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65A28"/>
                </a:solidFill>
                <a:latin typeface="Trebuchet MS"/>
              </a:rPr>
              <a:t>Conclusion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804672"/>
            <a:ext cx="84124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932688"/>
            <a:ext cx="8412480" cy="5669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932688"/>
            <a:ext cx="54864" cy="5669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005840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Real Kernel 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1024128"/>
            <a:ext cx="5303520" cy="246221"/>
          </a:xfrm>
          <a:prstGeom prst="rect">
            <a:avLst/>
          </a:prstGeom>
          <a:solidFill>
            <a:schemeClr val="accent6"/>
          </a:solidFill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latin typeface="Trebuchet MS"/>
              </a:rPr>
              <a:t>HML-LAS runs inside actual xv6 RISC-V kernel on QEMU — not a 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591056"/>
            <a:ext cx="8412480" cy="5669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74320" y="1591056"/>
            <a:ext cx="54864" cy="566928"/>
          </a:xfrm>
          <a:prstGeom prst="rect">
            <a:avLst/>
          </a:prstGeom>
          <a:solidFill>
            <a:srgbClr val="A0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8912" y="16642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3-Layer ML Framework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8249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3C281E"/>
                </a:solidFill>
                <a:latin typeface="Trebuchet MS"/>
              </a:rPr>
              <a:t>EWMA prediction + adaptive α weighting + automatic I/O/CPU 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249424"/>
            <a:ext cx="8412480" cy="5669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249424"/>
            <a:ext cx="54864" cy="566928"/>
          </a:xfrm>
          <a:prstGeom prst="rect">
            <a:avLst/>
          </a:prstGeom>
          <a:solidFill>
            <a:srgbClr val="52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" y="2322576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28.4% / 31.8% Improvement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34086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Best turnaround time vs Round Robin and MLFQ across 1000-process workload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907792"/>
            <a:ext cx="8412480" cy="5669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74320" y="2907792"/>
            <a:ext cx="54864" cy="566928"/>
          </a:xfrm>
          <a:prstGeom prst="rect">
            <a:avLst/>
          </a:prstGeom>
          <a:solidFill>
            <a:srgbClr val="FFB7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8912" y="2980944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Starvation-Free Guaranteed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2999232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Aging mechanism mathematically guarantees every process is eventually scheduled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66160"/>
            <a:ext cx="8412480" cy="56692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74320" y="3566160"/>
            <a:ext cx="54864" cy="56692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8912" y="3639312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C281E"/>
                </a:solidFill>
                <a:latin typeface="Trebuchet MS"/>
              </a:rPr>
              <a:t>Lightweight &amp; Practical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65760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C281E"/>
                </a:solidFill>
                <a:latin typeface="Trebuchet MS"/>
              </a:rPr>
              <a:t>Integer arithmetic only — 2 files modified, suitable for real OS kernel deployment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343400"/>
            <a:ext cx="8412480" cy="694944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74320" y="4343400"/>
            <a:ext cx="54864" cy="694944"/>
          </a:xfrm>
          <a:prstGeom prst="rect">
            <a:avLst/>
          </a:prstGeom>
          <a:solidFill>
            <a:srgbClr val="00D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8912" y="43891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C281E"/>
                </a:solidFill>
                <a:latin typeface="Trebuchet MS"/>
              </a:rPr>
              <a:t>Future Work: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466344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3C281E"/>
                </a:solidFill>
                <a:latin typeface="Trebuchet MS"/>
              </a:rPr>
              <a:t>Replace formula with trained neural network weights  ·  Adaptive classification thresholds  ·  Port to Linux kernel  ·  Test on real RISC-V hardware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2112</Words>
  <Application>Microsoft Office PowerPoint</Application>
  <PresentationFormat>On-screen Show (16:9)</PresentationFormat>
  <Paragraphs>338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</dc:creator>
  <cp:keywords/>
  <dc:description>generated using python-pptx</dc:description>
  <cp:lastModifiedBy>Dev Agarwal</cp:lastModifiedBy>
  <cp:revision>2</cp:revision>
  <dcterms:created xsi:type="dcterms:W3CDTF">2013-01-27T09:14:16Z</dcterms:created>
  <dcterms:modified xsi:type="dcterms:W3CDTF">2026-04-19T12:35:07Z</dcterms:modified>
  <cp:category/>
</cp:coreProperties>
</file>